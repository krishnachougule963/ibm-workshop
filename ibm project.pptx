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90" r:id="rId10"/>
    <p:sldId id="264"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305954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Krishna </a:t>
                      </a:r>
                      <a:r>
                        <a:rPr lang="en-US" dirty="0" err="1"/>
                        <a:t>Shivaling</a:t>
                      </a:r>
                      <a:r>
                        <a:rPr lang="en-US" dirty="0"/>
                        <a:t> Chougule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krishnachougule963@gmail.com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9834967781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srcRect/>
          <a:stretch/>
        </p:blipFill>
        <p:spPr>
          <a:xfrm>
            <a:off x="4053024" y="3763315"/>
            <a:ext cx="762500" cy="752015"/>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800" b="1" dirty="0"/>
              <a:t>Finance Technology (FinTech)</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t>Apex Finance Agent – Sequential Task Agent: Investment Analyst</a:t>
            </a:r>
            <a:r>
              <a:rPr lang="en-US" sz="2400" dirty="0"/>
              <a: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04:Apex Finance Agent – Sequential Task Agent: Investment Analyst</a:t>
            </a:r>
            <a:r>
              <a:rPr lang="en-US" dirty="0"/>
              <a:t>.</a:t>
            </a:r>
          </a:p>
          <a:p>
            <a:pPr fontAlgn="base"/>
            <a:endParaRPr lang="en-US" b="1" dirty="0"/>
          </a:p>
          <a:p>
            <a:r>
              <a:rPr lang="en-US" dirty="0"/>
              <a:t>Investors often struggle to make informed financial decisions due to the overwhelming amount of market data, financial reports, news articles, and rapidly changing market conditions. Manually collecting, analyzing, and interpreting this information is time-consuming and requires significant financial expertise. As a result, many investors may overlook critical insights, leading to increased investment risks and less informed decisions.</a:t>
            </a:r>
          </a:p>
          <a:p>
            <a:r>
              <a:rPr lang="en-US" b="1" dirty="0"/>
              <a:t>Apex Finance Agent</a:t>
            </a:r>
            <a:r>
              <a:rPr lang="en-US" dirty="0"/>
              <a:t> addresses this challenge by acting as an AI-powered Sequential Task Agent that automates the investment analysis process. It systematically gathers financial data, analyzes company performance, evaluates market trends, identifies potential risks, and generates clear, data-driven investment insights. By performing these tasks in a structured sequence, the agent provides users with reliable, transparent, and easy-to-understand recommendations, enabling smarter and more confident investment decisions.</a:t>
            </a:r>
          </a:p>
          <a:p>
            <a:r>
              <a:rPr lang="en-US" b="1" dirty="0"/>
              <a:t>Objective</a:t>
            </a:r>
          </a:p>
          <a:p>
            <a:r>
              <a:rPr lang="en-US" dirty="0"/>
              <a:t>To develop an intelligent AI-powered investment assistant that automates financial analysis, simplifies complex financial information, and delivers accurate, data-driven recommendations through a structured sequential workflow.</a:t>
            </a:r>
          </a:p>
          <a:p>
            <a:r>
              <a:rPr lang="en-US" b="1" dirty="0"/>
              <a:t>Key Challenges Addressed</a:t>
            </a:r>
          </a:p>
          <a:p>
            <a:pPr>
              <a:buFont typeface="Arial" panose="020B0604020202020204" pitchFamily="34" charset="0"/>
              <a:buChar char="•"/>
            </a:pPr>
            <a:r>
              <a:rPr lang="en-US" dirty="0"/>
              <a:t>Automating financial data collection from multiple sources. </a:t>
            </a:r>
          </a:p>
          <a:p>
            <a:pPr>
              <a:buFont typeface="Arial" panose="020B0604020202020204" pitchFamily="34" charset="0"/>
              <a:buChar char="•"/>
            </a:pPr>
            <a:r>
              <a:rPr lang="en-US" dirty="0"/>
              <a:t>Analyzing company performance and financial statements. </a:t>
            </a:r>
          </a:p>
          <a:p>
            <a:pPr>
              <a:buFont typeface="Arial" panose="020B0604020202020204" pitchFamily="34" charset="0"/>
              <a:buChar char="•"/>
            </a:pPr>
            <a:r>
              <a:rPr lang="en-US" dirty="0"/>
              <a:t>Identifying market trends and investment risks. </a:t>
            </a:r>
          </a:p>
          <a:p>
            <a:pPr>
              <a:buFont typeface="Arial" panose="020B0604020202020204" pitchFamily="34" charset="0"/>
              <a:buChar char="•"/>
            </a:pPr>
            <a:r>
              <a:rPr lang="en-US" dirty="0"/>
              <a:t>Reducing the time required for investment research. </a:t>
            </a:r>
          </a:p>
          <a:p>
            <a:pPr>
              <a:buFont typeface="Arial" panose="020B0604020202020204" pitchFamily="34" charset="0"/>
              <a:buChar char="•"/>
            </a:pPr>
            <a:r>
              <a:rPr lang="en-US" dirty="0"/>
              <a:t>Providing clear, unbiased, and actionable investment recommendations. </a:t>
            </a:r>
          </a:p>
          <a:p>
            <a:pPr>
              <a:buFont typeface="Arial" panose="020B0604020202020204" pitchFamily="34" charset="0"/>
              <a:buChar char="•"/>
            </a:pPr>
            <a:r>
              <a:rPr lang="en-US" dirty="0"/>
              <a:t>Supporting investors with informed and data-driven decision-making.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pPr fontAlgn="base"/>
            <a:endParaRPr lang="en-US" b="1" dirty="0"/>
          </a:p>
          <a:p>
            <a:r>
              <a:rPr lang="en-US" b="1" dirty="0"/>
              <a:t>Proposed Solution: AI-Powered Apex Finance Agent</a:t>
            </a:r>
          </a:p>
          <a:p>
            <a:r>
              <a:rPr lang="en-US" b="1" dirty="0"/>
              <a:t>Apex Finance Agent</a:t>
            </a:r>
            <a:r>
              <a:rPr lang="en-US" dirty="0"/>
              <a:t> is an AI-powered </a:t>
            </a:r>
            <a:r>
              <a:rPr lang="en-US" b="1" dirty="0"/>
              <a:t>Sequential Task Agent</a:t>
            </a:r>
            <a:r>
              <a:rPr lang="en-US" dirty="0"/>
              <a:t> designed to automate the investment analysis process. Instead of manually collecting and evaluating financial information, the agent performs a series of structured tasks to deliver accurate, transparent, and data-driven investment insights.</a:t>
            </a:r>
          </a:p>
          <a:p>
            <a:r>
              <a:rPr lang="en-US" dirty="0"/>
              <a:t>The agent begins by gathering financial data, stock prices, company reports, and market news from trusted sources. It then validates the collected information, analyzes key financial metrics and market trends, evaluates potential investment risks, and generates intelligent recommendations. Finally, it presents the results through clear summaries, reports, and interactive dashboards, enabling users to make informed investment decisions with confidence.</a:t>
            </a:r>
          </a:p>
          <a:p>
            <a:r>
              <a:rPr lang="en-US" b="1" dirty="0"/>
              <a:t>Sequential Workflow</a:t>
            </a:r>
          </a:p>
          <a:p>
            <a:pPr>
              <a:buFont typeface="+mj-lt"/>
              <a:buAutoNum type="arabicPeriod"/>
            </a:pPr>
            <a:r>
              <a:rPr lang="en-US" b="1" dirty="0"/>
              <a:t>Data Collection</a:t>
            </a:r>
            <a:r>
              <a:rPr lang="en-US" dirty="0"/>
              <a:t> – Gather financial data, stock prices, company reports, and market news. </a:t>
            </a:r>
          </a:p>
          <a:p>
            <a:pPr>
              <a:buFont typeface="+mj-lt"/>
              <a:buAutoNum type="arabicPeriod"/>
            </a:pPr>
            <a:r>
              <a:rPr lang="en-US" b="1" dirty="0"/>
              <a:t>Data Validation</a:t>
            </a:r>
            <a:r>
              <a:rPr lang="en-US" dirty="0"/>
              <a:t> – Verify the accuracy and reliability of the collected information. </a:t>
            </a:r>
          </a:p>
          <a:p>
            <a:pPr>
              <a:buFont typeface="+mj-lt"/>
              <a:buAutoNum type="arabicPeriod"/>
            </a:pPr>
            <a:r>
              <a:rPr lang="en-US" b="1" dirty="0"/>
              <a:t>Financial Analysis</a:t>
            </a:r>
            <a:r>
              <a:rPr lang="en-US" dirty="0"/>
              <a:t> – Evaluate company performance using financial statements and key performance indicators (KPIs). </a:t>
            </a:r>
          </a:p>
          <a:p>
            <a:pPr>
              <a:buFont typeface="+mj-lt"/>
              <a:buAutoNum type="arabicPeriod"/>
            </a:pPr>
            <a:r>
              <a:rPr lang="en-US" b="1" dirty="0"/>
              <a:t>Market Trend Analysis</a:t>
            </a:r>
            <a:r>
              <a:rPr lang="en-US" dirty="0"/>
              <a:t> – Analyze market movements and industry trends. </a:t>
            </a:r>
          </a:p>
          <a:p>
            <a:pPr>
              <a:buFont typeface="+mj-lt"/>
              <a:buAutoNum type="arabicPeriod"/>
            </a:pPr>
            <a:r>
              <a:rPr lang="en-US" b="1" dirty="0"/>
              <a:t>Risk Assessment</a:t>
            </a:r>
            <a:r>
              <a:rPr lang="en-US" dirty="0"/>
              <a:t> – Identify potential investment risks and opportunities. </a:t>
            </a:r>
          </a:p>
          <a:p>
            <a:pPr>
              <a:buFont typeface="+mj-lt"/>
              <a:buAutoNum type="arabicPeriod"/>
            </a:pPr>
            <a:r>
              <a:rPr lang="en-US" b="1" dirty="0"/>
              <a:t>Recommendation Generation</a:t>
            </a:r>
            <a:r>
              <a:rPr lang="en-US" dirty="0"/>
              <a:t> – Provide AI-powered, data-driven investment suggestions. </a:t>
            </a:r>
          </a:p>
          <a:p>
            <a:pPr>
              <a:buFont typeface="+mj-lt"/>
              <a:buAutoNum type="arabicPeriod"/>
            </a:pPr>
            <a:r>
              <a:rPr lang="en-US" b="1" dirty="0"/>
              <a:t>Report &amp; Dashboard</a:t>
            </a:r>
            <a:r>
              <a:rPr lang="en-US" dirty="0"/>
              <a:t> – Present findings through easy-to-understand reports and visual dashboards. </a:t>
            </a:r>
          </a:p>
          <a:p>
            <a:r>
              <a:rPr lang="en-US" b="1" dirty="0"/>
              <a:t>Key Features</a:t>
            </a:r>
          </a:p>
          <a:p>
            <a:pPr>
              <a:buFont typeface="Arial" panose="020B0604020202020204" pitchFamily="34" charset="0"/>
              <a:buChar char="•"/>
            </a:pPr>
            <a:r>
              <a:rPr lang="en-US" dirty="0"/>
              <a:t>AI-powered sequential task execution. </a:t>
            </a:r>
          </a:p>
          <a:p>
            <a:pPr>
              <a:buFont typeface="Arial" panose="020B0604020202020204" pitchFamily="34" charset="0"/>
              <a:buChar char="•"/>
            </a:pPr>
            <a:r>
              <a:rPr lang="en-US" dirty="0"/>
              <a:t>Automated financial data collection and analysis. </a:t>
            </a:r>
          </a:p>
          <a:p>
            <a:pPr>
              <a:buFont typeface="Arial" panose="020B0604020202020204" pitchFamily="34" charset="0"/>
              <a:buChar char="•"/>
            </a:pPr>
            <a:r>
              <a:rPr lang="en-US" dirty="0"/>
              <a:t>Market trend and sentiment analysis. </a:t>
            </a:r>
          </a:p>
          <a:p>
            <a:pPr>
              <a:buFont typeface="Arial" panose="020B0604020202020204" pitchFamily="34" charset="0"/>
              <a:buChar char="•"/>
            </a:pPr>
            <a:r>
              <a:rPr lang="en-US" dirty="0"/>
              <a:t>Investment risk evaluation. </a:t>
            </a:r>
          </a:p>
          <a:p>
            <a:pPr>
              <a:buFont typeface="Arial" panose="020B0604020202020204" pitchFamily="34" charset="0"/>
              <a:buChar char="•"/>
            </a:pPr>
            <a:r>
              <a:rPr lang="en-US" dirty="0"/>
              <a:t>Personalized investment recommendations. </a:t>
            </a:r>
          </a:p>
          <a:p>
            <a:pPr>
              <a:buFont typeface="Arial" panose="020B0604020202020204" pitchFamily="34" charset="0"/>
              <a:buChar char="•"/>
            </a:pPr>
            <a:r>
              <a:rPr lang="en-US" dirty="0"/>
              <a:t>Interactive reports and dashboards. </a:t>
            </a:r>
          </a:p>
          <a:p>
            <a:pPr>
              <a:buFont typeface="Arial" panose="020B0604020202020204" pitchFamily="34" charset="0"/>
              <a:buChar char="•"/>
            </a:pPr>
            <a:r>
              <a:rPr lang="en-US" dirty="0"/>
              <a:t>Fast, accurate, and transparent decision support.</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247864"/>
          </a:xfrm>
          <a:prstGeom prst="rect">
            <a:avLst/>
          </a:prstGeom>
          <a:noFill/>
        </p:spPr>
        <p:txBody>
          <a:bodyPr wrap="square" lIns="91440" tIns="45720" rIns="91440" bIns="45720" rtlCol="0" anchor="t">
            <a:spAutoFit/>
          </a:bodyPr>
          <a:lstStyle/>
          <a:p>
            <a:r>
              <a:rPr lang="en-US" b="1" dirty="0"/>
              <a:t>1. Artificial Intelligence &amp; Machine Learning</a:t>
            </a:r>
          </a:p>
          <a:p>
            <a:pPr>
              <a:buFont typeface="Arial" panose="020B0604020202020204" pitchFamily="34" charset="0"/>
              <a:buChar char="•"/>
            </a:pPr>
            <a:r>
              <a:rPr lang="en-US" b="1" dirty="0"/>
              <a:t>AI Agents</a:t>
            </a:r>
            <a:r>
              <a:rPr lang="en-US" dirty="0"/>
              <a:t> – Used to automate sequential investment analysis tasks. </a:t>
            </a:r>
          </a:p>
          <a:p>
            <a:pPr>
              <a:buFont typeface="Arial" panose="020B0604020202020204" pitchFamily="34" charset="0"/>
              <a:buChar char="•"/>
            </a:pPr>
            <a:r>
              <a:rPr lang="en-US" b="1" dirty="0"/>
              <a:t>Large Language Models (LLMs)</a:t>
            </a:r>
            <a:r>
              <a:rPr lang="en-US" dirty="0"/>
              <a:t> – Used for financial reasoning, report generation, and intelligent recommendations. </a:t>
            </a:r>
          </a:p>
          <a:p>
            <a:pPr>
              <a:buFont typeface="Arial" panose="020B0604020202020204" pitchFamily="34" charset="0"/>
              <a:buChar char="•"/>
            </a:pPr>
            <a:r>
              <a:rPr lang="en-US" b="1" dirty="0"/>
              <a:t>Machine Learning Algorithms</a:t>
            </a:r>
            <a:r>
              <a:rPr lang="en-US" dirty="0"/>
              <a:t> – Used for market trend analysis, prediction, and risk assessment. </a:t>
            </a:r>
          </a:p>
          <a:p>
            <a:pPr>
              <a:buFont typeface="Arial" panose="020B0604020202020204" pitchFamily="34" charset="0"/>
              <a:buChar char="•"/>
            </a:pPr>
            <a:r>
              <a:rPr lang="en-US" b="1" dirty="0"/>
              <a:t>Natural Language Processing (NLP)</a:t>
            </a:r>
            <a:r>
              <a:rPr lang="en-US" dirty="0"/>
              <a:t> – Used to analyze financial news, reports, and market sentiment. </a:t>
            </a:r>
          </a:p>
          <a:p>
            <a:r>
              <a:rPr lang="en-US" b="1" dirty="0"/>
              <a:t>2. AI Agent Framework</a:t>
            </a:r>
          </a:p>
          <a:p>
            <a:pPr>
              <a:buFont typeface="Arial" panose="020B0604020202020204" pitchFamily="34" charset="0"/>
              <a:buChar char="•"/>
            </a:pPr>
            <a:r>
              <a:rPr lang="en-US" b="1" dirty="0"/>
              <a:t>IBM watsonx.ai / IBM Granite Models</a:t>
            </a:r>
            <a:r>
              <a:rPr lang="en-US" dirty="0"/>
              <a:t> – Used for building intelligent AI-powered financial analysis and decision-making capabilities. </a:t>
            </a:r>
          </a:p>
          <a:p>
            <a:pPr>
              <a:buFont typeface="Arial" panose="020B0604020202020204" pitchFamily="34" charset="0"/>
              <a:buChar char="•"/>
            </a:pPr>
            <a:r>
              <a:rPr lang="en-US" b="1" dirty="0" err="1"/>
              <a:t>Langflow</a:t>
            </a:r>
            <a:r>
              <a:rPr lang="en-US" dirty="0"/>
              <a:t> – Used to design and manage AI agent workflows and sequential task execution. </a:t>
            </a:r>
          </a:p>
          <a:p>
            <a:pPr>
              <a:buFont typeface="Arial" panose="020B0604020202020204" pitchFamily="34" charset="0"/>
              <a:buChar char="•"/>
            </a:pPr>
            <a:r>
              <a:rPr lang="en-US" b="1" dirty="0"/>
              <a:t>Agent Orchestration</a:t>
            </a:r>
            <a:r>
              <a:rPr lang="en-US" dirty="0"/>
              <a:t> – Used to coordinate multiple analysis steps such as data collection, validation, evaluation, and reporting. </a:t>
            </a:r>
          </a:p>
          <a:p>
            <a:r>
              <a:rPr lang="en-US" b="1" dirty="0"/>
              <a:t>3. Frontend Technologies</a:t>
            </a:r>
          </a:p>
          <a:p>
            <a:pPr>
              <a:buFont typeface="Arial" panose="020B0604020202020204" pitchFamily="34" charset="0"/>
              <a:buChar char="•"/>
            </a:pPr>
            <a:r>
              <a:rPr lang="en-US" b="1" dirty="0"/>
              <a:t>HTML5</a:t>
            </a:r>
            <a:r>
              <a:rPr lang="en-US" dirty="0"/>
              <a:t> – Used for creating the structure of the web application. </a:t>
            </a:r>
          </a:p>
          <a:p>
            <a:pPr>
              <a:buFont typeface="Arial" panose="020B0604020202020204" pitchFamily="34" charset="0"/>
              <a:buChar char="•"/>
            </a:pPr>
            <a:r>
              <a:rPr lang="en-US" b="1" dirty="0"/>
              <a:t>CSS3</a:t>
            </a:r>
            <a:r>
              <a:rPr lang="en-US" dirty="0"/>
              <a:t> – Used for designing a responsive and modern user interface with animations and dashboards. </a:t>
            </a:r>
          </a:p>
          <a:p>
            <a:pPr>
              <a:buFont typeface="Arial" panose="020B0604020202020204" pitchFamily="34" charset="0"/>
              <a:buChar char="•"/>
            </a:pPr>
            <a:r>
              <a:rPr lang="en-US" b="1" dirty="0"/>
              <a:t>JavaScript</a:t>
            </a:r>
            <a:r>
              <a:rPr lang="en-US" dirty="0"/>
              <a:t> – Used for interactive features, dynamic content, and user interactions. </a:t>
            </a:r>
          </a:p>
          <a:p>
            <a:r>
              <a:rPr lang="en-US" b="1" dirty="0"/>
              <a:t>4. Backend Technologies</a:t>
            </a:r>
          </a:p>
          <a:p>
            <a:pPr>
              <a:buFont typeface="Arial" panose="020B0604020202020204" pitchFamily="34" charset="0"/>
              <a:buChar char="•"/>
            </a:pPr>
            <a:r>
              <a:rPr lang="en-US" b="1" dirty="0"/>
              <a:t>Python</a:t>
            </a:r>
            <a:r>
              <a:rPr lang="en-US" dirty="0"/>
              <a:t> – Used for AI logic, data processing, and backend development. </a:t>
            </a:r>
          </a:p>
          <a:p>
            <a:pPr>
              <a:buFont typeface="Arial" panose="020B0604020202020204" pitchFamily="34" charset="0"/>
              <a:buChar char="•"/>
            </a:pPr>
            <a:r>
              <a:rPr lang="en-US" b="1" dirty="0" err="1"/>
              <a:t>FastAPI</a:t>
            </a:r>
            <a:r>
              <a:rPr lang="en-US" b="1" dirty="0"/>
              <a:t> / Flask</a:t>
            </a:r>
            <a:r>
              <a:rPr lang="en-US" dirty="0"/>
              <a:t> – Used for creating APIs and connecting the AI agent with the frontend. </a:t>
            </a:r>
          </a:p>
          <a:p>
            <a:pPr>
              <a:buFont typeface="Arial" panose="020B0604020202020204" pitchFamily="34" charset="0"/>
              <a:buChar char="•"/>
            </a:pPr>
            <a:r>
              <a:rPr lang="en-US" b="1" dirty="0"/>
              <a:t>REST APIs</a:t>
            </a:r>
            <a:r>
              <a:rPr lang="en-US" dirty="0"/>
              <a:t> – Used for communication between different application components. </a:t>
            </a:r>
          </a:p>
          <a:p>
            <a:r>
              <a:rPr lang="en-US" b="1" dirty="0"/>
              <a:t>5. Data &amp; Financial Analysis Tools</a:t>
            </a:r>
          </a:p>
          <a:p>
            <a:pPr>
              <a:buFont typeface="Arial" panose="020B0604020202020204" pitchFamily="34" charset="0"/>
              <a:buChar char="•"/>
            </a:pPr>
            <a:r>
              <a:rPr lang="en-US" b="1" dirty="0"/>
              <a:t>Financial APIs</a:t>
            </a:r>
            <a:r>
              <a:rPr lang="en-US" dirty="0"/>
              <a:t> – Used to collect stock prices, company information, and market data. </a:t>
            </a:r>
          </a:p>
          <a:p>
            <a:pPr>
              <a:buFont typeface="Arial" panose="020B0604020202020204" pitchFamily="34" charset="0"/>
              <a:buChar char="•"/>
            </a:pPr>
            <a:r>
              <a:rPr lang="en-US" b="1" dirty="0"/>
              <a:t>Data Processing Libraries</a:t>
            </a:r>
            <a:r>
              <a:rPr lang="en-US" dirty="0"/>
              <a:t> </a:t>
            </a:r>
          </a:p>
          <a:p>
            <a:pPr marL="742950" lvl="1" indent="-285750">
              <a:buFont typeface="Arial" panose="020B0604020202020204" pitchFamily="34" charset="0"/>
              <a:buChar char="•"/>
            </a:pPr>
            <a:r>
              <a:rPr lang="en-US" dirty="0"/>
              <a:t>Pandas – Data manipulation and analysis. </a:t>
            </a:r>
          </a:p>
          <a:p>
            <a:pPr marL="742950" lvl="1" indent="-285750">
              <a:buFont typeface="Arial" panose="020B0604020202020204" pitchFamily="34" charset="0"/>
              <a:buChar char="•"/>
            </a:pPr>
            <a:r>
              <a:rPr lang="en-US" dirty="0"/>
              <a:t>NumPy – Numerical computations. </a:t>
            </a:r>
          </a:p>
          <a:p>
            <a:pPr marL="742950" lvl="1" indent="-285750">
              <a:buFont typeface="Arial" panose="020B0604020202020204" pitchFamily="34" charset="0"/>
              <a:buChar char="•"/>
            </a:pPr>
            <a:r>
              <a:rPr lang="en-US" dirty="0"/>
              <a:t>Matplotlib / </a:t>
            </a:r>
            <a:r>
              <a:rPr lang="en-US" dirty="0" err="1"/>
              <a:t>Plotly</a:t>
            </a:r>
            <a:r>
              <a:rPr lang="en-US" dirty="0"/>
              <a:t> – Data visualization and financial charts.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6" name="Picture 5">
            <a:extLst>
              <a:ext uri="{FF2B5EF4-FFF2-40B4-BE49-F238E27FC236}">
                <a16:creationId xmlns:a16="http://schemas.microsoft.com/office/drawing/2014/main" id="{4C7FC88A-B369-455A-F57A-122CC34E5233}"/>
              </a:ext>
            </a:extLst>
          </p:cNvPr>
          <p:cNvPicPr>
            <a:picLocks noChangeAspect="1"/>
          </p:cNvPicPr>
          <p:nvPr/>
        </p:nvPicPr>
        <p:blipFill>
          <a:blip r:embed="rId3"/>
          <a:srcRect/>
          <a:stretch/>
        </p:blipFill>
        <p:spPr>
          <a:xfrm>
            <a:off x="182714" y="771747"/>
            <a:ext cx="11295848" cy="575594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sym typeface="Calibri"/>
              </a:rPr>
              <a:t>Orchestrate architecture blueprint</a:t>
            </a:r>
            <a:endParaRPr lang="en-US" sz="2400" dirty="0">
              <a:solidFill>
                <a:schemeClr val="dk1"/>
              </a:solidFill>
            </a:endParaRPr>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rcRect/>
          <a:stretch/>
        </p:blipFill>
        <p:spPr>
          <a:xfrm>
            <a:off x="777673" y="675732"/>
            <a:ext cx="10983893"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32AB02-E8D6-CBC4-95C9-510F463D6720}"/>
              </a:ext>
            </a:extLst>
          </p:cNvPr>
          <p:cNvPicPr>
            <a:picLocks noChangeAspect="1"/>
          </p:cNvPicPr>
          <p:nvPr/>
        </p:nvPicPr>
        <p:blipFill>
          <a:blip r:embed="rId2"/>
          <a:stretch>
            <a:fillRect/>
          </a:stretch>
        </p:blipFill>
        <p:spPr>
          <a:xfrm>
            <a:off x="221225" y="997708"/>
            <a:ext cx="11749549" cy="5706745"/>
          </a:xfrm>
          <a:prstGeom prst="rect">
            <a:avLst/>
          </a:prstGeom>
        </p:spPr>
      </p:pic>
      <p:sp>
        <p:nvSpPr>
          <p:cNvPr id="4" name="TextBox 3">
            <a:extLst>
              <a:ext uri="{FF2B5EF4-FFF2-40B4-BE49-F238E27FC236}">
                <a16:creationId xmlns:a16="http://schemas.microsoft.com/office/drawing/2014/main" id="{9669505A-7E15-BA82-A0A1-07FAA97A4627}"/>
              </a:ext>
            </a:extLst>
          </p:cNvPr>
          <p:cNvSpPr txBox="1"/>
          <p:nvPr/>
        </p:nvSpPr>
        <p:spPr>
          <a:xfrm>
            <a:off x="221225" y="442452"/>
            <a:ext cx="5939044" cy="461665"/>
          </a:xfrm>
          <a:prstGeom prst="rect">
            <a:avLst/>
          </a:prstGeom>
          <a:noFill/>
        </p:spPr>
        <p:txBody>
          <a:bodyPr wrap="square" rtlCol="0">
            <a:spAutoFit/>
          </a:bodyPr>
          <a:lstStyle/>
          <a:p>
            <a:r>
              <a:rPr lang="en-US" sz="2400" dirty="0">
                <a:latin typeface="Arial Black" panose="020B0A04020102020204" pitchFamily="34" charset="0"/>
              </a:rPr>
              <a:t>HOME PAGE:</a:t>
            </a:r>
            <a:endParaRPr lang="en-IN" sz="2400" dirty="0">
              <a:latin typeface="Arial Black" panose="020B0A04020102020204" pitchFamily="34" charset="0"/>
            </a:endParaRPr>
          </a:p>
        </p:txBody>
      </p:sp>
    </p:spTree>
    <p:extLst>
      <p:ext uri="{BB962C8B-B14F-4D97-AF65-F5344CB8AC3E}">
        <p14:creationId xmlns:p14="http://schemas.microsoft.com/office/powerpoint/2010/main" val="1985746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6732737" cy="5478423"/>
          </a:xfrm>
          <a:prstGeom prst="rect">
            <a:avLst/>
          </a:prstGeom>
          <a:noFill/>
        </p:spPr>
        <p:txBody>
          <a:bodyPr wrap="square" rtlCol="0">
            <a:spAutoFit/>
          </a:bodyPr>
          <a:lstStyle/>
          <a:p>
            <a:r>
              <a:rPr lang="en-US" dirty="0"/>
              <a:t>Agentic AI plays a central role in </a:t>
            </a:r>
            <a:r>
              <a:rPr lang="en-US" b="1" dirty="0"/>
              <a:t>Apex Finance Agent</a:t>
            </a:r>
            <a:r>
              <a:rPr lang="en-US" dirty="0"/>
              <a:t> by enabling the system to independently perform complex investment analysis tasks through an intelligent, goal-oriented workflow. Instead of only responding to user queries, the AI agent can plan, execute, analyze, and generate insights by completing multiple tasks in a sequential manner.</a:t>
            </a:r>
          </a:p>
          <a:p>
            <a:r>
              <a:rPr lang="en-US" b="1" dirty="0"/>
              <a:t>Role of Agentic AI</a:t>
            </a:r>
          </a:p>
          <a:p>
            <a:r>
              <a:rPr lang="en-US" b="1" dirty="0"/>
              <a:t>1. Autonomous Data Collection</a:t>
            </a:r>
          </a:p>
          <a:p>
            <a:pPr>
              <a:buFont typeface="Arial" panose="020B0604020202020204" pitchFamily="34" charset="0"/>
              <a:buChar char="•"/>
            </a:pPr>
            <a:r>
              <a:rPr lang="en-US" dirty="0"/>
              <a:t>The AI agent automatically gathers financial information such as stock prices, company reports, market news, and economic indicators from available data sources. </a:t>
            </a:r>
          </a:p>
          <a:p>
            <a:pPr>
              <a:buFont typeface="Arial" panose="020B0604020202020204" pitchFamily="34" charset="0"/>
              <a:buChar char="•"/>
            </a:pPr>
            <a:r>
              <a:rPr lang="en-US" dirty="0"/>
              <a:t>Reduces the need for manual research and improves analysis speed. </a:t>
            </a:r>
          </a:p>
          <a:p>
            <a:r>
              <a:rPr lang="en-US" b="1" dirty="0"/>
              <a:t>2. Intelligent Task Planning &amp; Execution</a:t>
            </a:r>
          </a:p>
          <a:p>
            <a:pPr>
              <a:buFont typeface="Arial" panose="020B0604020202020204" pitchFamily="34" charset="0"/>
              <a:buChar char="•"/>
            </a:pPr>
            <a:r>
              <a:rPr lang="en-US" dirty="0"/>
              <a:t>Agentic AI breaks down investment analysis into multiple steps: </a:t>
            </a:r>
          </a:p>
          <a:p>
            <a:pPr marL="742950" lvl="1" indent="-285750">
              <a:buFont typeface="Arial" panose="020B0604020202020204" pitchFamily="34" charset="0"/>
              <a:buChar char="•"/>
            </a:pPr>
            <a:r>
              <a:rPr lang="en-US" dirty="0"/>
              <a:t>Collect data </a:t>
            </a:r>
          </a:p>
          <a:p>
            <a:pPr marL="742950" lvl="1" indent="-285750">
              <a:buFont typeface="Arial" panose="020B0604020202020204" pitchFamily="34" charset="0"/>
              <a:buChar char="•"/>
            </a:pPr>
            <a:r>
              <a:rPr lang="en-US" dirty="0"/>
              <a:t>Validate information </a:t>
            </a:r>
          </a:p>
          <a:p>
            <a:pPr marL="742950" lvl="1" indent="-285750">
              <a:buFont typeface="Arial" panose="020B0604020202020204" pitchFamily="34" charset="0"/>
              <a:buChar char="•"/>
            </a:pPr>
            <a:r>
              <a:rPr lang="en-US" dirty="0"/>
              <a:t>Analyze financial performance </a:t>
            </a:r>
          </a:p>
          <a:p>
            <a:pPr marL="742950" lvl="1" indent="-285750">
              <a:buFont typeface="Arial" panose="020B0604020202020204" pitchFamily="34" charset="0"/>
              <a:buChar char="•"/>
            </a:pPr>
            <a:r>
              <a:rPr lang="en-US" dirty="0"/>
              <a:t>Evaluate market trends </a:t>
            </a:r>
          </a:p>
          <a:p>
            <a:pPr marL="742950" lvl="1" indent="-285750">
              <a:buFont typeface="Arial" panose="020B0604020202020204" pitchFamily="34" charset="0"/>
              <a:buChar char="•"/>
            </a:pPr>
            <a:r>
              <a:rPr lang="en-US" dirty="0"/>
              <a:t>Assess risks </a:t>
            </a:r>
          </a:p>
          <a:p>
            <a:pPr marL="742950" lvl="1" indent="-285750">
              <a:buFont typeface="Arial" panose="020B0604020202020204" pitchFamily="34" charset="0"/>
              <a:buChar char="•"/>
            </a:pPr>
            <a:r>
              <a:rPr lang="en-US" dirty="0"/>
              <a:t>Generate recommendations </a:t>
            </a:r>
          </a:p>
          <a:p>
            <a:pPr>
              <a:buFont typeface="Arial" panose="020B0604020202020204" pitchFamily="34" charset="0"/>
              <a:buChar char="•"/>
            </a:pPr>
            <a:r>
              <a:rPr lang="en-US" dirty="0"/>
              <a:t>Executes these tasks in the correct sequence to produce meaningful results. </a:t>
            </a:r>
          </a:p>
          <a:p>
            <a:r>
              <a:rPr lang="en-US" b="1" dirty="0"/>
              <a:t>3. Financial Data Analysis</a:t>
            </a:r>
          </a:p>
          <a:p>
            <a:pPr>
              <a:buFont typeface="Arial" panose="020B0604020202020204" pitchFamily="34" charset="0"/>
              <a:buChar char="•"/>
            </a:pPr>
            <a:r>
              <a:rPr lang="en-US" dirty="0"/>
              <a:t>The agent analyzes financial statements, company growth, profitability, valuation metrics, and market behavior. </a:t>
            </a:r>
          </a:p>
          <a:p>
            <a:pPr>
              <a:buFont typeface="Arial" panose="020B0604020202020204" pitchFamily="34" charset="0"/>
              <a:buChar char="•"/>
            </a:pPr>
            <a:r>
              <a:rPr lang="en-US" dirty="0"/>
              <a:t>Identifies important patterns and trends that may influence investment decisions.</a:t>
            </a:r>
          </a:p>
          <a:p>
            <a:r>
              <a:rPr lang="en-US"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45303"/>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32202"/>
          </a:xfrm>
          <a:prstGeom prst="rect">
            <a:avLst/>
          </a:prstGeom>
          <a:noFill/>
        </p:spPr>
        <p:txBody>
          <a:bodyPr wrap="square" rtlCol="0">
            <a:spAutoFit/>
          </a:bodyPr>
          <a:lstStyle/>
          <a:p>
            <a:r>
              <a:rPr lang="en-US" sz="1600" b="1" dirty="0"/>
              <a:t>Apex Finance Agent</a:t>
            </a:r>
            <a:r>
              <a:rPr lang="en-US" sz="1600" dirty="0"/>
              <a:t> is an AI-powered investment analyst that goes beyond traditional stock screening and portfolio tracking. It combines real-time market intelligence, generative AI, and autonomous agent technology to provide personalized, explainable, and actionable investment insights.</a:t>
            </a:r>
          </a:p>
          <a:p>
            <a:r>
              <a:rPr lang="en-US" sz="1600" b="1" dirty="0"/>
              <a:t>Key Unique Features</a:t>
            </a:r>
          </a:p>
          <a:p>
            <a:pPr>
              <a:buFont typeface="+mj-lt"/>
              <a:buAutoNum type="arabicPeriod"/>
            </a:pPr>
            <a:r>
              <a:rPr lang="en-US" sz="1600" b="1" dirty="0"/>
              <a:t>Multi-Agent AI Architecture</a:t>
            </a:r>
            <a:r>
              <a:rPr lang="en-US" sz="1600" dirty="0"/>
              <a:t> </a:t>
            </a:r>
          </a:p>
          <a:p>
            <a:pPr marL="742950" lvl="1" indent="-285750">
              <a:buFont typeface="+mj-lt"/>
              <a:buAutoNum type="arabicPeriod"/>
            </a:pPr>
            <a:r>
              <a:rPr lang="en-US" sz="1600" dirty="0"/>
              <a:t>Separate AI agents for market analysis, portfolio optimization, risk assessment, sentiment analysis, and financial planning. </a:t>
            </a:r>
          </a:p>
          <a:p>
            <a:pPr marL="742950" lvl="1" indent="-285750">
              <a:buFont typeface="+mj-lt"/>
              <a:buAutoNum type="arabicPeriod"/>
            </a:pPr>
            <a:r>
              <a:rPr lang="en-US" sz="1600" dirty="0"/>
              <a:t>Agents collaborate to generate accurate investment recommendations. </a:t>
            </a:r>
          </a:p>
          <a:p>
            <a:pPr>
              <a:buFont typeface="+mj-lt"/>
              <a:buAutoNum type="arabicPeriod"/>
            </a:pPr>
            <a:r>
              <a:rPr lang="en-US" sz="1600" b="1" dirty="0"/>
              <a:t>Personalized Investment Strategy</a:t>
            </a:r>
            <a:r>
              <a:rPr lang="en-US" sz="1600" dirty="0"/>
              <a:t> </a:t>
            </a:r>
          </a:p>
          <a:p>
            <a:pPr marL="742950" lvl="1" indent="-285750">
              <a:buFont typeface="+mj-lt"/>
              <a:buAutoNum type="arabicPeriod"/>
            </a:pPr>
            <a:r>
              <a:rPr lang="en-US" sz="1600" dirty="0"/>
              <a:t>Learns user goals, risk appetite, investment horizon, and financial behavior. </a:t>
            </a:r>
          </a:p>
          <a:p>
            <a:pPr marL="742950" lvl="1" indent="-285750">
              <a:buFont typeface="+mj-lt"/>
              <a:buAutoNum type="arabicPeriod"/>
            </a:pPr>
            <a:r>
              <a:rPr lang="en-US" sz="1600" dirty="0"/>
              <a:t>Creates customized portfolios instead of generic recommendations. </a:t>
            </a:r>
          </a:p>
          <a:p>
            <a:pPr>
              <a:buFont typeface="+mj-lt"/>
              <a:buAutoNum type="arabicPeriod"/>
            </a:pPr>
            <a:r>
              <a:rPr lang="en-US" sz="1600" b="1" dirty="0"/>
              <a:t>Explainable AI</a:t>
            </a:r>
            <a:r>
              <a:rPr lang="en-US" sz="1600" dirty="0"/>
              <a:t> </a:t>
            </a:r>
          </a:p>
          <a:p>
            <a:pPr marL="742950" lvl="1" indent="-285750">
              <a:buFont typeface="+mj-lt"/>
              <a:buAutoNum type="arabicPeriod"/>
            </a:pPr>
            <a:r>
              <a:rPr lang="en-US" sz="1600" dirty="0"/>
              <a:t>Every Buy, Hold, or Sell recommendation includes the reasoning behind the decision. </a:t>
            </a:r>
          </a:p>
          <a:p>
            <a:pPr marL="742950" lvl="1" indent="-285750">
              <a:buFont typeface="+mj-lt"/>
              <a:buAutoNum type="arabicPeriod"/>
            </a:pPr>
            <a:r>
              <a:rPr lang="en-US" sz="1600" dirty="0"/>
              <a:t>Improves transparency and user trust. </a:t>
            </a:r>
          </a:p>
          <a:p>
            <a:pPr>
              <a:buFont typeface="+mj-lt"/>
              <a:buAutoNum type="arabicPeriod"/>
            </a:pPr>
            <a:r>
              <a:rPr lang="en-US" sz="1600" b="1" dirty="0"/>
              <a:t>Real-Time Market Intelligence</a:t>
            </a:r>
            <a:r>
              <a:rPr lang="en-US" sz="1600" dirty="0"/>
              <a:t> </a:t>
            </a:r>
          </a:p>
          <a:p>
            <a:pPr marL="742950" lvl="1" indent="-285750">
              <a:buFont typeface="+mj-lt"/>
              <a:buAutoNum type="arabicPeriod"/>
            </a:pPr>
            <a:r>
              <a:rPr lang="en-US" sz="1600" dirty="0"/>
              <a:t>Continuously monitors stock markets, news, earnings reports, economic indicators, and global events. </a:t>
            </a:r>
          </a:p>
          <a:p>
            <a:pPr marL="742950" lvl="1" indent="-285750">
              <a:buFont typeface="+mj-lt"/>
              <a:buAutoNum type="arabicPeriod"/>
            </a:pPr>
            <a:r>
              <a:rPr lang="en-US" sz="1600" dirty="0"/>
              <a:t>Updates recommendations instantly based on changing market conditions. </a:t>
            </a:r>
          </a:p>
          <a:p>
            <a:pPr>
              <a:buFont typeface="+mj-lt"/>
              <a:buAutoNum type="arabicPeriod"/>
            </a:pPr>
            <a:r>
              <a:rPr lang="en-US" sz="1600" b="1" dirty="0"/>
              <a:t>AI-Powered Sentiment Analysis</a:t>
            </a:r>
            <a:r>
              <a:rPr lang="en-US" sz="1600" dirty="0"/>
              <a:t> </a:t>
            </a:r>
          </a:p>
          <a:p>
            <a:pPr marL="742950" lvl="1" indent="-285750">
              <a:buFont typeface="+mj-lt"/>
              <a:buAutoNum type="arabicPeriod"/>
            </a:pPr>
            <a:r>
              <a:rPr lang="en-US" sz="1600" dirty="0"/>
              <a:t>Uses NLP to analyze financial news, social media, analyst reports, and company announcements. </a:t>
            </a:r>
          </a:p>
          <a:p>
            <a:pPr marL="742950" lvl="1" indent="-285750">
              <a:buFont typeface="+mj-lt"/>
              <a:buAutoNum type="arabicPeriod"/>
            </a:pPr>
            <a:r>
              <a:rPr lang="en-US" sz="1600" dirty="0"/>
              <a:t>Detects positive or negative market sentiment before major price movements.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https://github.com/krishnachougule963/IBM-BOOT-CAMP.git</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2) yourproblemstatement.pdf file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3) your projectpresntation.pptx file</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1800" b="1" dirty="0"/>
              <a:t>1. AI Financial Advisor</a:t>
            </a:r>
          </a:p>
          <a:p>
            <a:r>
              <a:rPr lang="en-US" sz="1800" dirty="0"/>
              <a:t>Develop a fully autonomous AI advisor that provides personalized investment strategies, retirement planning, tax-saving suggestions, and wealth management.</a:t>
            </a:r>
          </a:p>
          <a:p>
            <a:r>
              <a:rPr lang="en-US" sz="1800" b="1" dirty="0"/>
              <a:t>2. Global Market Integration</a:t>
            </a:r>
          </a:p>
          <a:p>
            <a:r>
              <a:rPr lang="en-US" sz="1800" dirty="0"/>
              <a:t>Expand support to international stock markets such as NYSE, NASDAQ, LSE, Nikkei, and cryptocurrency exchanges for global investment opportunities.</a:t>
            </a:r>
          </a:p>
          <a:p>
            <a:r>
              <a:rPr lang="en-US" sz="1800" b="1" dirty="0"/>
              <a:t>3. Robo-Advisory Services</a:t>
            </a:r>
          </a:p>
          <a:p>
            <a:r>
              <a:rPr lang="en-US" sz="1800" dirty="0"/>
              <a:t>Enable automatic portfolio creation, asset allocation, and portfolio rebalancing based on users' financial goals and risk profiles.</a:t>
            </a:r>
          </a:p>
          <a:p>
            <a:r>
              <a:rPr lang="en-US" sz="1800" b="1" dirty="0"/>
              <a:t>4. Voice-Based AI Assistant</a:t>
            </a:r>
          </a:p>
          <a:p>
            <a:r>
              <a:rPr lang="en-US" sz="1800" dirty="0"/>
              <a:t>Integrate voice assistants so users can ask investment-related questions using natural speech and receive real-time financial advice.</a:t>
            </a:r>
          </a:p>
          <a:p>
            <a:r>
              <a:rPr lang="en-US" sz="1800" b="1" dirty="0"/>
              <a:t>5. Advanced Predictive Analytics</a:t>
            </a:r>
          </a:p>
          <a:p>
            <a:r>
              <a:rPr lang="en-US" sz="1800" dirty="0"/>
              <a:t>Use deep learning models to forecast stock prices, market trends, volatility, and investment risks with higher accuracy.</a:t>
            </a:r>
          </a:p>
          <a:p>
            <a:r>
              <a:rPr lang="en-US" sz="1800" b="1" dirty="0"/>
              <a:t>6. Blockchain Integration</a:t>
            </a:r>
          </a:p>
          <a:p>
            <a:r>
              <a:rPr lang="en-US" sz="1800" dirty="0"/>
              <a:t>Leverage blockchain technology for secure transaction records, smart contracts, and transparent investment tracking.</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002278" y="1048428"/>
            <a:ext cx="6958346"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633" r="2633"/>
          <a:stretch/>
        </p:blipFill>
        <p:spPr>
          <a:xfrm>
            <a:off x="2198104" y="1398953"/>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3111</TotalTime>
  <Words>1597</Words>
  <Application>Microsoft Office PowerPoint</Application>
  <PresentationFormat>Widescreen</PresentationFormat>
  <Paragraphs>164</Paragraphs>
  <Slides>16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Ram Chougule</cp:lastModifiedBy>
  <cp:revision>100</cp:revision>
  <dcterms:created xsi:type="dcterms:W3CDTF">2025-07-08T05:06:56Z</dcterms:created>
  <dcterms:modified xsi:type="dcterms:W3CDTF">2026-07-18T05:39:21Z</dcterms:modified>
</cp:coreProperties>
</file>